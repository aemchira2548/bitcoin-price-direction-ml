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image" Target="../media/image-3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49240" y="685800"/>
            <a:ext cx="1463040" cy="14630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icons/bitco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0370" y="1036930"/>
            <a:ext cx="760781" cy="7607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การพยากรณ์ทิศทางราคา Bitcoin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ด้วย Machine Learning และเว็บแอปพลิเคชัน Streamlit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51960" y="4114800"/>
            <a:ext cx="3657600" cy="1828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โปรเจควิชา Business Intelligence / Data Warehouse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มหาวิทยาลัยราชภัฏนครปฐม  •  สาขาวิทยาการคอมพิวเตอร์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กำหนดส่ง 18–21 สิงหาคม 2569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ข้อมูลผู้พัฒนา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77240" y="169164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028090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4" name="Image 0" descr="developer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228600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นักศึกษาสาขาวิทยาการคอมพิวเตอร์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74904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รหัสนักศึกษา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26480" y="1828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664245051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49040" y="2331720"/>
            <a:ext cx="7863840" cy="0"/>
          </a:xfrm>
          <a:prstGeom prst="line">
            <a:avLst/>
          </a:prstGeom>
          <a:noFill/>
          <a:ln w="12700">
            <a:solidFill>
              <a:srgbClr val="D8E5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245059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ชื่อ - นามสกุล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245059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นางสาวเอมจิรา อ่วมเจริญ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749040" y="2953512"/>
            <a:ext cx="7863840" cy="0"/>
          </a:xfrm>
          <a:prstGeom prst="line">
            <a:avLst/>
          </a:prstGeom>
          <a:noFill/>
          <a:ln w="12700">
            <a:solidFill>
              <a:srgbClr val="D8E5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307238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หมู่เรียน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26480" y="3072384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66/44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749040" y="3575304"/>
            <a:ext cx="7863840" cy="0"/>
          </a:xfrm>
          <a:prstGeom prst="line">
            <a:avLst/>
          </a:prstGeom>
          <a:noFill/>
          <a:ln w="12700">
            <a:solidFill>
              <a:srgbClr val="D8E5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49040" y="369417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สาขาวิชา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26480" y="3694176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วิทยาการคอมพิวเตอร์ (Computer Science)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749040" y="4197096"/>
            <a:ext cx="7863840" cy="0"/>
          </a:xfrm>
          <a:prstGeom prst="line">
            <a:avLst/>
          </a:prstGeom>
          <a:noFill/>
          <a:ln w="12700">
            <a:solidFill>
              <a:srgbClr val="D8E5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49040" y="4315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มหาวิทยาลัย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126480" y="43159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มหาวิทยาลัยราชภัฏนครปฐม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749040" y="4818888"/>
            <a:ext cx="7863840" cy="0"/>
          </a:xfrm>
          <a:prstGeom prst="line">
            <a:avLst/>
          </a:prstGeom>
          <a:noFill/>
          <a:ln w="12700">
            <a:solidFill>
              <a:srgbClr val="D8E5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ข้อมูลผู้พัฒนา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Direction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F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การกำหนดปัญหาและ Dataset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7FA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9366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ปัญหาที่สนใจ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ราคา Bitcoin ผันผวนสูงและซื้อขาย 24 ชม. นักลงทุนรายย่อยต้องการเครื่องมือช่วยประเมินแนวโน้มราคาวันถัดไปเบื้องต้น จึงตั้งโจทย์เป็นปัญหา Binary Classification: ทำนายว่าราคาปิดวันพรุ่งนี้จะ “สูงกว่า” หรือ “ต่ำกว่า” วันนี้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4251960"/>
            <a:ext cx="4754880" cy="0"/>
          </a:xfrm>
          <a:prstGeom prst="line">
            <a:avLst/>
          </a:prstGeom>
          <a:noFill/>
          <a:ln w="12700">
            <a:solidFill>
              <a:srgbClr val="D8E5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389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เป้าหมาย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7091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จำแนก 2 กลุ่ม: ขึ้น (1) / ลง (0) — เพื่อประกอบการตัดสินใจเบื้องต้น ไม่ใช่คำแนะนำการลงทุน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013A40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17830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79" y="193669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7830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ทำไมเลือก Dataset ชุดนี้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537960" y="26060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2698212"/>
            <a:ext cx="199705" cy="19970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255117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ข้อมูลราคา OHLC + Volume รายวัน มาตรฐานสำหรับวิเคราะห์ตลาดการเงิน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537960" y="326440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132" y="3356580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086600" y="320954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มีมากกว่า 1,700 วัน เพียงพอสำหรับ train/test แบบ time series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537960" y="3922776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3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132" y="4014948"/>
            <a:ext cx="199705" cy="19970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86600" y="386791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เป็นข้อมูลดิบที่ต้องทำความสะอาดจริง (comma, หน่วย K/M, %)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537960" y="4581144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132" y="4673316"/>
            <a:ext cx="199705" cy="19970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86600" y="45262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ต่อเนื่องกับความสนใจด้าน Crypto ที่เคยทำรายงาน Power BI มาก่อน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โจทย์และ Dataset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Direction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ภาพรวม Dataset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1,721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แถวข้อมูล (วัน)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2019–2024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3756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ช่วงเวลา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12648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คอลัมน์ดิบ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15400" y="146304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16002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915400" y="233172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ที่ใช้เทรน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คอลัมน์ในข้อมูลดิบ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Date, Open, High, Low, Close (Price), Volume, Change 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แหล่งข้อมูล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Historical Data — Investing.com (เผยแพร่แบบ CSV ผ่าน public GitHub repository)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สัดส่วน Target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53524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5901080" y="5760720"/>
            <a:ext cx="5163160" cy="320040"/>
          </a:xfrm>
          <a:prstGeom prst="rect">
            <a:avLst/>
          </a:prstGeom>
          <a:solidFill>
            <a:srgbClr val="C8D8D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760720"/>
            <a:ext cx="5352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ขึ้น 50.9%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01080" y="5760720"/>
            <a:ext cx="516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 49.1%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โจทย์และ Dataset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Direction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F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5489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17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ปัญหาที่พบ และวิธีแก้ไข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53492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5"/>
          <p:cNvSpPr/>
          <p:nvPr/>
        </p:nvSpPr>
        <p:spPr>
          <a:xfrm>
            <a:off x="5943600" y="2148840"/>
            <a:ext cx="566928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ปัญหาที่พบ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080760" y="2148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วิธีแก้ไข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606040"/>
            <a:ext cx="5349240" cy="457200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0" y="2606040"/>
            <a:ext cx="5669280" cy="457200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606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ตัวเลขมี comma  “60,309.1”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80760" y="2606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 comma → แปลงเป็น float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943600" y="3063240"/>
            <a:ext cx="56692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เป็นข้อความ “106.30K”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080760" y="3063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แปลงหน่วย K/M/B เป็นตัวเลขจริง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520440"/>
            <a:ext cx="5349240" cy="457200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20" name="Shape 17"/>
          <p:cNvSpPr/>
          <p:nvPr/>
        </p:nvSpPr>
        <p:spPr>
          <a:xfrm>
            <a:off x="5943600" y="3520440"/>
            <a:ext cx="5669280" cy="457200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520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% มี “%” ติดอยู่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080760" y="3520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ลบสัญลักษณ์ → แปลงเป็นตัวเลข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48640" y="3977640"/>
            <a:ext cx="5349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5943600" y="3977640"/>
            <a:ext cx="56692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3977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บางวันหายไป (missing)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6080760" y="3977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เติมด้วยค่ามัธยฐาน (median)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548640" y="4434840"/>
            <a:ext cx="5349240" cy="457200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28" name="Shape 25"/>
          <p:cNvSpPr/>
          <p:nvPr/>
        </p:nvSpPr>
        <p:spPr>
          <a:xfrm>
            <a:off x="5943600" y="4434840"/>
            <a:ext cx="5669280" cy="457200"/>
          </a:xfrm>
          <a:prstGeom prst="rect">
            <a:avLst/>
          </a:prstGeom>
          <a:solidFill>
            <a:srgbClr val="F7FAFA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4434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ข้อมูลเรียงจากใหม่ → เก่า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080760" y="44348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เรียงใหม่ตามวันที่ (เก่า → ใหม่)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ที่สร้างเพิ่ม (Feature Engineering)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  •  High-Low Range  •  MA(7) &amp; MA(21)  •  MA Ratio  •  Volatility(7)  •  RSI(14)  •  Volume Change  •  Target (ขึ้น/ลง)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Preprocessing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Direction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F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การสร้างโมเดล Machine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7FA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13716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18745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836" y="209397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260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โมเดลเชิงเส้น หาความสัมพันธ์ระหว่าง feature กับความน่าจะเป็นของ class ผ่านฟังก์ชัน sigmoid ตีความง่าย เหมาะเป็น baseline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50876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7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400" y="1508760"/>
            <a:ext cx="3611880" cy="13716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2" name="Shape 9"/>
          <p:cNvSpPr/>
          <p:nvPr/>
        </p:nvSpPr>
        <p:spPr>
          <a:xfrm>
            <a:off x="5692140" y="187452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1" descr="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96" y="209397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9260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17720" y="36118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แบบ Bagging รวมผล Decision Tree จำนวนมากที่เรียนจากข้อมูล/feature สุ่มบางส่วน ลด overfitting และบอก Feature Importance ได้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50876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7FAFA"/>
          </a:solidFill>
          <a:ln/>
        </p:spPr>
      </p:sp>
      <p:sp>
        <p:nvSpPr>
          <p:cNvPr id="17" name="Shape 13"/>
          <p:cNvSpPr/>
          <p:nvPr/>
        </p:nvSpPr>
        <p:spPr>
          <a:xfrm>
            <a:off x="8138160" y="1508760"/>
            <a:ext cx="3611880" cy="1371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8" name="Shape 14"/>
          <p:cNvSpPr/>
          <p:nvPr/>
        </p:nvSpPr>
        <p:spPr>
          <a:xfrm>
            <a:off x="9486900" y="187452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356" y="2093976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292608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12480" y="361188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แบบ Boosting สร้างต้นไม้ทีละต้นตามลำดับ เพื่อแก้ error จากต้นก่อนหน้า (residual) มักแม่นยำสูงแต่เสี่ยง overfit มากกว่า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013A40"/>
          </a:solidFill>
          <a:ln/>
        </p:spPr>
      </p:sp>
      <p:sp>
        <p:nvSpPr>
          <p:cNvPr id="23" name="Text 18"/>
          <p:cNvSpPr/>
          <p:nvPr/>
        </p:nvSpPr>
        <p:spPr>
          <a:xfrm>
            <a:off x="731520" y="576072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แบ่งข้อมูลตามลำดับเวลา: 80% เก่าสุด = Train  •  20% ล่าสุด = Test  (ไม่สุ่มแบ่ง เพราะเป็น time series)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โมเดล Machine Learning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Direction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F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502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การประเมินและเปรียบเทียบโมเดล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394960" cy="1737360"/>
        </p:xfrm>
        <a:graphic>
          <a:graphicData uri="http://schemas.openxmlformats.org/drawingml/2006/table">
            <a:tbl>
              <a:tblPr/>
              <a:tblGrid>
                <a:gridCol w="1078992"/>
                <a:gridCol w="1078992"/>
                <a:gridCol w="1078992"/>
                <a:gridCol w="1078992"/>
                <a:gridCol w="1078992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8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290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342900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โมเดลที่ดีที่สุด: Logistic Regression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(Accuracy สูงสุด 53.4%)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7FAF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709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~50-53% ใกล้เคียงการทายสุ่ม สะท้อนความเป็นจริงของตลาดที่มีประสิทธิภาพสูง (Efficient Market) — การทำนายทิศทางราคาระยะสั้นด้วย feature เทคนิคอย่างเดียวเป็นเรื่องยากมาก แม้ในงานวิจัยระดับมืออาชีพ</a:t>
            </a:r>
            <a:endParaRPr lang="en-US" sz="1200" dirty="0"/>
          </a:p>
        </p:txBody>
      </p:sp>
      <p:pic>
        <p:nvPicPr>
          <p:cNvPr id="9" name="Image 0" descr="chart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17320"/>
            <a:ext cx="5486400" cy="32461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เปรียบเทียบผลลัพธ์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Direction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รายละเอียดผลลัพธ์เชิงลึก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500" dirty="0"/>
          </a:p>
        </p:txBody>
      </p:sp>
      <p:pic>
        <p:nvPicPr>
          <p:cNvPr id="5" name="Image 0" descr="chart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65960"/>
            <a:ext cx="43891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37160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492240" y="1508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(Random Forest)</a:t>
            </a:r>
            <a:endParaRPr lang="en-US" sz="1500" dirty="0"/>
          </a:p>
        </p:txBody>
      </p:sp>
      <p:pic>
        <p:nvPicPr>
          <p:cNvPr id="8" name="Image 1" descr="chart_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65960"/>
            <a:ext cx="4937760" cy="4023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เปรียบเทียบผลลัพธ์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Direction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3F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5947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63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โครงสร้างเว็บแอป (6 หน้า)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24028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ข้อมูลผู้พัฒนา — รูป, รหัส-ชื่อ, หมู่เรียน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92608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โจทย์ &amp; Dataset — สถิติและตัวอย่างข้อมูล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61188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Data Preprocessing — ตารางปัญหา/วิธีแก้ + feature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29768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429768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โมเดล ML — อธิบายทฤษฎีของ 3 โมเดล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98348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98348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เปรียบเทียบผลลัพธ์ — ตาราง + 3 กราฟ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669280"/>
            <a:ext cx="7040880" cy="566928"/>
          </a:xfrm>
          <a:prstGeom prst="roundRect">
            <a:avLst>
              <a:gd name="adj" fmla="val 12903"/>
            </a:avLst>
          </a:prstGeom>
          <a:solidFill>
            <a:srgbClr val="F7FAF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566928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Live Demo — กรอกค่าแล้วทำนายผลได้ทันที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909560" y="1463040"/>
            <a:ext cx="3703320" cy="4892040"/>
          </a:xfrm>
          <a:prstGeom prst="roundRect">
            <a:avLst>
              <a:gd name="adj" fmla="val 2963"/>
            </a:avLst>
          </a:prstGeom>
          <a:solidFill>
            <a:srgbClr val="013A40"/>
          </a:solidFill>
          <a:ln/>
        </p:spPr>
      </p:sp>
      <p:sp>
        <p:nvSpPr>
          <p:cNvPr id="20" name="Shape 17"/>
          <p:cNvSpPr/>
          <p:nvPr/>
        </p:nvSpPr>
        <p:spPr>
          <a:xfrm>
            <a:off x="9509760" y="178308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1" descr="icons/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947672"/>
            <a:ext cx="356616" cy="35661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138160" y="26060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275320" y="310896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ผู้ใช้ปรับค่า Open/High/Low/Close, RSI, MA และตัวแปรอื่น ๆ ผ่าน slider แล้วกด “ทำนายผล” ระบบจะเรียกทั้ง 3 โมเดลพร้อมกัน แสดงผล ขึ้น/ลง พร้อมค่าความน่าจะเป็นของแต่ละโมเดล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8275320" y="5623560"/>
            <a:ext cx="301752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75320" y="57607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เพื่อการศึกษาเท่านั้น ไม่ใช่คำแนะนำการลงทุน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Streamlit Application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589520" y="6537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Price Direction Predictor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สรุปโปรเจคและสิ่งที่ส่ง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982419"/>
            <a:ext cx="332842" cy="3328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828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GitHub Repository (โค้ด + README)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icons/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285109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2697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วิดีโอสาธิตการใช้งาน อัปโหลดขึ้น YouTube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31520" y="35661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3719779"/>
            <a:ext cx="332842" cy="3328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0200" y="35661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นำเสนอ (ไฟล์นี้) ตามหัวข้อ 1-5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731520" y="4572000"/>
            <a:ext cx="1069848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48640" y="48920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 / ขอบคุณค่ะ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548640" y="5486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7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 &amp; ข้อเสนอแนะ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2026-08-25T03:28:51Z</dcterms:created>
  <dcterms:modified xsi:type="dcterms:W3CDTF">2026-08-25T03:28:51Z</dcterms:modified>
</cp:coreProperties>
</file>